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CMSE 928 — Applied Machine Learning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NLP Model for Fake News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 the WELFake Dataset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TF-IDF, GloVe/BiLSTM, and Linguistic Features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971800"/>
            <a:ext cx="2743200" cy="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Siddhish Nirgude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Data Science  |  Michigan State University  |  April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Jie Hou  |  TA: Gabriel Thomas Maliakal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4800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rapid spread of misinformation online poses a serious challenge to public discourse. Manual fact-checking cannot keep pace with the volume of articles published daily across digital platforms.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hybrid NLP classification system that combines TF-IDF statistical features, GloVe semantic embeddings with BiLSTM, and handcrafted linguistic writing-style features into a single unified classifier.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combining TF-IDF vocabulary features, GloVe semantic embeddings, and linguistic writing-style features into a single hybrid model produce statistically significantly better fake news detection than any individual feature alone?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0" cy="3520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22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WELFAKE DATASET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283464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(Verma et al., 2021)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articles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dedup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articles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articles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/ 15% / 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9,399 articles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from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Kaggle, McIntire, Reuters, BuzzFeed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0" y="4526280"/>
            <a:ext cx="914400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kaggle.com/datasets/saurabhshahane/fake-news-classification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Verma et al. (2021). WELFake. IEEE Trans. Computational Social Systems, 8(4), 881–893.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 Raw Data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72,134 articles — title, text, label columns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Handle Nulls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558 null titles, 39 null texts — combined into single content column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Deduplicate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9,474 duplicate texts removed — prevents data leakage between splits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Clean Text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URLs removed, punctuation stripped, lowercased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Stratified Split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Class ratio preserved — 55.25% Fake / 44.75% Real in each split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0" y="822960"/>
            <a:ext cx="0" cy="3383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22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DISTRIBUTION</a:t>
            </a:r>
            <a:endParaRPr lang="en-US" sz="1100" dirty="0"/>
          </a:p>
        </p:txBody>
      </p:sp>
      <p:pic>
        <p:nvPicPr>
          <p:cNvPr id="8" name="Image 0" descr="/Users/siddhishnirgude/Documents/Personal/USA/Semester 4 MSU/Project Applied ML/outputs/figures/preprocessing/09_split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143000"/>
            <a:ext cx="4114800" cy="1472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0" y="27066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preserved across Train / Val / Test splits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526280"/>
            <a:ext cx="914400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572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72,134 raw  →  62,660 after deduplication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0" y="4572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43,862   |   Val: 9,399   |   Test: 9,399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21792"/>
            <a:ext cx="859536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777240"/>
            <a:ext cx="502920" cy="4114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137160" y="777240"/>
            <a:ext cx="502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   72,134 articles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77240"/>
            <a:ext cx="502920" cy="4114800"/>
          </a:xfrm>
          <a:prstGeom prst="rect">
            <a:avLst/>
          </a:prstGeom>
          <a:solidFill>
            <a:srgbClr val="F0FDFA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685800" y="777240"/>
            <a:ext cx="502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    Dedup · Clean · Split    62,660 articles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07008" y="1389888"/>
            <a:ext cx="0" cy="260604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1389888"/>
            <a:ext cx="16459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207008" y="2715768"/>
            <a:ext cx="16459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207008" y="4041648"/>
            <a:ext cx="164592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1371600" y="7772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 —  Classical 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1078992"/>
            <a:ext cx="10972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078992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87168" y="1508760"/>
            <a:ext cx="18288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679192" y="1078992"/>
            <a:ext cx="11887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107899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SVM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· XGBoost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86200" y="1508760"/>
            <a:ext cx="18288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078224" y="1078992"/>
            <a:ext cx="1371600" cy="868680"/>
          </a:xfrm>
          <a:prstGeom prst="rect">
            <a:avLst/>
          </a:prstGeom>
          <a:solidFill>
            <a:srgbClr val="DBEAFE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78224" y="1078992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LinearSVC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97.20% 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21031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 —  Deep Learning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2404872"/>
            <a:ext cx="109728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2404872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Sequences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100d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87168" y="2834640"/>
            <a:ext cx="18288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679192" y="2404872"/>
            <a:ext cx="118872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240487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BiLSTM(256)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86200" y="2834640"/>
            <a:ext cx="18288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078224" y="2404872"/>
            <a:ext cx="1371600" cy="868680"/>
          </a:xfrm>
          <a:prstGeom prst="rect">
            <a:avLst/>
          </a:prstGeom>
          <a:solidFill>
            <a:srgbClr val="E0E7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78224" y="2404872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Baseline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97.83% F1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3429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 —  Linguistic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71600" y="3730752"/>
            <a:ext cx="109728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373075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Linguistic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 · Fog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87168" y="4142232"/>
            <a:ext cx="18288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2679192" y="3730752"/>
            <a:ext cx="118872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9192" y="373075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86200" y="4142232"/>
            <a:ext cx="18288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078224" y="3730752"/>
            <a:ext cx="1371600" cy="822960"/>
          </a:xfrm>
          <a:prstGeom prst="rect">
            <a:avLst/>
          </a:prstGeom>
          <a:solidFill>
            <a:srgbClr val="FFEDD5"/>
          </a:solidFill>
          <a:ln w="19050">
            <a:solidFill>
              <a:srgbClr val="FCA5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78224" y="373075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standalone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68112" y="1508760"/>
            <a:ext cx="0" cy="2633472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49824" y="1508760"/>
            <a:ext cx="1828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49824" y="2834640"/>
            <a:ext cx="1828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49824" y="4142232"/>
            <a:ext cx="1828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68112" y="2834640"/>
            <a:ext cx="102412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6492240" y="777240"/>
            <a:ext cx="914400" cy="4114800"/>
          </a:xfrm>
          <a:prstGeom prst="rect">
            <a:avLst/>
          </a:prstGeom>
          <a:solidFill>
            <a:srgbClr val="FFF1EE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777240"/>
            <a:ext cx="914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3-BRANCH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+GloVe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/BiLSTM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+Linguistic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→Fusion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→Sigmoid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52360" y="777240"/>
            <a:ext cx="502920" cy="4114800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 rot="16200000">
            <a:off x="7452360" y="777240"/>
            <a:ext cx="502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   No TF-IDF · No BiLSTM · No Linguistic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01000" y="777240"/>
            <a:ext cx="502920" cy="411480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 rot="16200000">
            <a:off x="8001000" y="777240"/>
            <a:ext cx="502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  McNemar Test    All p &lt; 0.0001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Three Parallel Tracks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21792"/>
            <a:ext cx="859536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31520"/>
            <a:ext cx="265176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Statistical Features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52728"/>
            <a:ext cx="2651760" cy="36118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44168"/>
            <a:ext cx="2468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 = 50,000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ngram_range = (1,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min_df = 5,  max_df = 0.90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sublinear_tf =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and term frequency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across articles.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and bigrams.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 not preserved.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capture semantic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between words.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731520"/>
            <a:ext cx="265176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731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Semantic Embeddings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63240" y="1252728"/>
            <a:ext cx="2651760" cy="3611880"/>
          </a:xfrm>
          <a:prstGeom prst="rect">
            <a:avLst/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344168"/>
            <a:ext cx="2468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GloVe 6B 100d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30,000 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93.64%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Wikipedia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Gigaword corpus.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relationships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in vector space.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and president 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in vector 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begins.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731520"/>
            <a:ext cx="274320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731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Writing Style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1252728"/>
            <a:ext cx="2743200" cy="3611880"/>
          </a:xfrm>
          <a:prstGeom prst="rect">
            <a:avLst/>
          </a:prstGeom>
          <a:solidFill>
            <a:srgbClr val="FFF7ED"/>
          </a:solidFill>
          <a:ln w="19050">
            <a:solidFill>
              <a:srgbClr val="FDB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344168"/>
            <a:ext cx="25603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Handcrafted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 Reading Ease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Gunning Fog Index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Sentence Length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Polarity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Subjectivity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Diversity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HOW an article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written, not WHAT.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to content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above.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Baselines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21792"/>
            <a:ext cx="859536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77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conducted by systematically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max_features, ngram_range, min_df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max_df. Current values selected based on best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features  ·  unigrams + bigrams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min_df = 5  ·  max_df = 0.90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sublinear_tf = True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697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TUNING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9992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5-fold cross validation applied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optimal regularization strength for each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 RF and XGBoost used as default parameter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—  GridSearchCV (C=10.0)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           —  GridSearchCV (C=1.0)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      —  default params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            —  default params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777240"/>
            <a:ext cx="0" cy="3474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78992"/>
          <a:ext cx="4114800" cy="173736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 Macro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0.9429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0.9879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0.9627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0.9938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0.9703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0.9964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</a:rPr>
                        <a:t>LinearSVC 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</a:rPr>
                        <a:t>0.9720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</a:rPr>
                        <a:t>0.9967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3456432"/>
            <a:ext cx="411480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345643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Classical Model: </a:t>
            </a:r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 97.20% F1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all neural models must beat →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526280"/>
            <a:ext cx="914400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5902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trained  ·  GridSearchCV 5-fold CV  ·  TF-IDF 50k features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4590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97.20%  ·  XGBoost 96.27%  ·  LR 97.03%  ·  RF 94.29%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Neural Baseline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21792"/>
            <a:ext cx="859536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498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3566160" cy="566928"/>
          </a:xfrm>
          <a:prstGeom prst="rect">
            <a:avLst/>
          </a:prstGeom>
          <a:solidFill>
            <a:srgbClr val="F0FD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56616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 (30,000 → 128d)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30k vocab · each word → 128-dim vector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609344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3566160" cy="658368"/>
          </a:xfrm>
          <a:prstGeom prst="rect">
            <a:avLst/>
          </a:prstGeom>
          <a:solidFill>
            <a:srgbClr val="EEF2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3566160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 (256 units, bidirectional)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Reads forward + backward · output: 512 dims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2505456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57200" y="2724912"/>
            <a:ext cx="3566160" cy="566928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24912"/>
            <a:ext cx="356616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over sequence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Most activated feature across 300 positions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40280" y="3310128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57200" y="3529584"/>
            <a:ext cx="3566160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9584"/>
            <a:ext cx="356616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Dense(128, relu)  +  Dropout(0.2)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Compress 512→128 · prevents overfitting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40280" y="4114800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57200" y="4334256"/>
            <a:ext cx="3566160" cy="502920"/>
          </a:xfrm>
          <a:prstGeom prst="rect">
            <a:avLst/>
          </a:prstGeom>
          <a:solidFill>
            <a:srgbClr val="FFF1EE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34256"/>
            <a:ext cx="356616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Dense(1, sigmoid)  →  Fake / Real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 &gt; 0.5 = Real · &lt; 0.5 = Fake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params: 4,663,425  ·  lr=0.001  ·  lstm=256  ·  dropout=0.2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749808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7498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BILSTM?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024128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destroys word order — treats every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as an unordered set of terms.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reads sequences forward and backward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simultaneously, capturing long-range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and negation context.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 “not good” = “good not”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BiLSTM:  “not good” ≠ “good not”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1272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663440" y="3401568"/>
          <a:ext cx="4114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554480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b="0" sz="1200">
                          <a:solidFill>
                            <a:srgbClr val="374151"/>
                          </a:solidFill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374151"/>
                          </a:solidFill>
                        </a:rPr>
                        <a:t>0.9785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b="0" sz="1200">
                          <a:solidFill>
                            <a:srgbClr val="374151"/>
                          </a:solidFill>
                        </a:rPr>
                        <a:t>F1 Macro</a:t>
                      </a:r>
                    </a:p>
                  </a:txBody>
                  <a:tcPr marL="91440" marR="91440" marT="45720" marB="45720">
                    <a:solidFill>
                      <a:srgbClr val="F8F9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374151"/>
                          </a:solidFill>
                        </a:rPr>
                        <a:t>0.9783</a:t>
                      </a:r>
                    </a:p>
                  </a:txBody>
                  <a:tcPr marL="91440" marR="91440" marT="45720" marB="45720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b="0" sz="1200">
                          <a:solidFill>
                            <a:srgbClr val="374151"/>
                          </a:solidFill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374151"/>
                          </a:solidFill>
                        </a:rPr>
                        <a:t>0.9980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b="1" sz="1200">
                          <a:solidFill>
                            <a:srgbClr val="1D4ED8"/>
                          </a:solidFill>
                        </a:rPr>
                        <a:t>vs LinearSVC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200">
                          <a:solidFill>
                            <a:srgbClr val="1D4ED8"/>
                          </a:solidFill>
                        </a:rPr>
                        <a:t>+0.0063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3-Branch Hybrid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21792"/>
            <a:ext cx="859536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498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097280" cy="50292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feats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→Dense(256)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→Dense(128)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08760" y="1024128"/>
            <a:ext cx="1188720" cy="502920"/>
          </a:xfrm>
          <a:prstGeom prst="rect">
            <a:avLst/>
          </a:prstGeom>
          <a:solidFill>
            <a:srgbClr val="EEF2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02412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100d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→BiLSTM(256)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→Dense(128)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34640" y="1024128"/>
            <a:ext cx="1097280" cy="502920"/>
          </a:xfrm>
          <a:prstGeom prst="rect">
            <a:avLst/>
          </a:prstGeom>
          <a:solidFill>
            <a:srgbClr val="FFF7ED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0241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→Dense(32)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1545336"/>
            <a:ext cx="0" cy="22860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545336"/>
            <a:ext cx="0" cy="22860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545336"/>
            <a:ext cx="0" cy="22860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773936"/>
            <a:ext cx="256032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773936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188720" y="1993392"/>
            <a:ext cx="1828800" cy="475488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9933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+ 128 + 32 = 288 dims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03120" y="2487168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188720" y="2706624"/>
            <a:ext cx="18288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7066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Dense(128, relu)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Dropout(0.5)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03120" y="3200400"/>
            <a:ext cx="0" cy="20116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88720" y="3419856"/>
            <a:ext cx="1828800" cy="475488"/>
          </a:xfrm>
          <a:prstGeom prst="rect">
            <a:avLst/>
          </a:prstGeom>
          <a:solidFill>
            <a:srgbClr val="FFF1EE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4198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Dense(1, sigmoid)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/ Real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9502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params: 16,669,473  ·  lr=0.001  ·  dropout=0.5  ·  GloVe fine-tuned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4840" y="749808"/>
            <a:ext cx="0" cy="4114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7498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1024128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experiments on validation set: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A — Learning rate   </a:t>
            </a:r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0.001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B — LSTM units      </a:t>
            </a:r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256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C — Dropout         </a:t>
            </a:r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0.5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D — GloVe freeze    </a:t>
            </a:r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fine-tune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experiment: 3 epochs with early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patience=2 to efficiently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configurations on val F1.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2834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BEHAVIOR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10896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train_loss=0.0994  val_acc=0.9848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2: </a:t>
            </a:r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train_loss=0.0113  val_acc=0.9865</a:t>
            </a:r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best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3: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train_loss=0.0051  val_acc=0.9855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4: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train_loss=0.0028  val_acc=0.9836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at epoch 4.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weights from epoch 2 restored.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overfitting due to TF-IDF branch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12.8M parameters (50k × 256).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526280"/>
            <a:ext cx="914400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590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Hybrid: 98.43% F1   ·   ROC-AUC: 0.9991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4590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+0.60% over BiLSTM   ·   +1.23% over LinearSVC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All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859536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pic>
        <p:nvPicPr>
          <p:cNvPr id="4" name="Image 0" descr="/Users/siddhishnirgude/Documents/Personal/USA/Semester 4 MSU/Project Applied ML/outputs/figures/results/20_all_models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58368"/>
            <a:ext cx="8595360" cy="1444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703320"/>
            <a:ext cx="2011680" cy="1005840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37033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Tree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94.29% F1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423160" y="3703320"/>
            <a:ext cx="201168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23160" y="37033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Classical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97.20% F1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3703320"/>
            <a:ext cx="2011680" cy="1005840"/>
          </a:xfrm>
          <a:prstGeom prst="rect">
            <a:avLst/>
          </a:prstGeom>
          <a:solidFill>
            <a:srgbClr val="F0FDFA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37033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Baseline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97.83% F1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20840" y="3703320"/>
            <a:ext cx="2103120" cy="1005840"/>
          </a:xfrm>
          <a:prstGeom prst="rect">
            <a:avLst/>
          </a:prstGeom>
          <a:solidFill>
            <a:srgbClr val="FFF1EE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37033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98.43% F1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Padalko et al. (2024) Att-BiLSTM 97.66%  ·  All improvements statistically significant — McNemar p &lt; 0.0001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Branch Contribution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859536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2179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</a:t>
            </a:r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one branch at a time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quantify each component’s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 to performance. Three 2-branch variants trained with same optimal hyperparameters.</a:t>
            </a:r>
            <a:endParaRPr lang="en-US" sz="1300" dirty="0"/>
          </a:p>
        </p:txBody>
      </p:sp>
      <p:pic>
        <p:nvPicPr>
          <p:cNvPr id="5" name="Image 0" descr="/Users/siddhishnirgude/Documents/Personal/USA/Semester 4 MSU/Project Applied ML/outputs/figures/ablation/24_ablation_bar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078992"/>
            <a:ext cx="7680960" cy="12710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749040"/>
            <a:ext cx="2651760" cy="914400"/>
          </a:xfrm>
          <a:prstGeom prst="rect">
            <a:avLst/>
          </a:prstGeom>
          <a:solidFill>
            <a:srgbClr val="EEF2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Branch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/ BiLSTM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it: </a:t>
            </a:r>
            <a:pPr algn="ctr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-1.65% F1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63240" y="3749040"/>
            <a:ext cx="26517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3240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Critical Branch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it: </a:t>
            </a:r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+0.19% F1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3749040"/>
            <a:ext cx="2743200" cy="914400"/>
          </a:xfrm>
          <a:prstGeom prst="rect">
            <a:avLst/>
          </a:prstGeom>
          <a:solidFill>
            <a:srgbClr val="FFF1EE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3749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No-Linguistic Hybrid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GloVe/BiLSTM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98.62% F1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density and uppercase ratio showed near-zero variance across all articles after text normalization — contributing noise rather than signal to the fusion layer, slightly hurting performance.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859536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583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MCNEMAR’S TEST?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McNemar’s test checks whether performance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between two models 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or due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 because both models are evaluated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</a:t>
            </a:r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set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predictions are paired.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improvement is real, not luck.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34840" y="658368"/>
            <a:ext cx="0" cy="21031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6583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— 4 MODEL PAIRS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2651760" cy="1417320"/>
          </a:xfrm>
          <a:prstGeom prst="rect">
            <a:avLst/>
          </a:prstGeom>
          <a:solidFill>
            <a:srgbClr val="F0FD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3464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vs LinearSVC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correctly classified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articles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LinearSVC failed on.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only beat BiLSTM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111 articles.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2834640"/>
            <a:ext cx="2651760" cy="1417320"/>
          </a:xfrm>
          <a:prstGeom prst="rect">
            <a:avLst/>
          </a:prstGeom>
          <a:solidFill>
            <a:srgbClr val="EEF2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83464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No-Linguistic vs LinearSVC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No-Linguistic correctly classified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articles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LinearSVC failed on.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only beat hybrid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47 articles.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834640"/>
            <a:ext cx="2743200" cy="1417320"/>
          </a:xfrm>
          <a:prstGeom prst="rect">
            <a:avLst/>
          </a:prstGeom>
          <a:solidFill>
            <a:srgbClr val="FFF1EE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834640"/>
            <a:ext cx="2743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 vs No-Linguistic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chi2 = 3032.00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linguistic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statistically beneficial.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+0.19% gain is proven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not random.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480560"/>
            <a:ext cx="9144000" cy="5029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5445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comparisons significant at alpha = 0.05  ·  </a:t>
            </a:r>
            <a:pPr algn="ctr" indent="0" marL="0">
              <a:buNone/>
            </a:pPr>
            <a:r>
              <a:rPr lang="en-US" sz="11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+0.19% improvement from removing linguistic features is proven real — not random.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663440" y="932688"/>
          <a:ext cx="4114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731520"/>
                <a:gridCol w="822960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Pair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chi2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b="0" sz="1200">
                          <a:solidFill>
                            <a:srgbClr val="374151"/>
                          </a:solidFill>
                        </a:rPr>
                        <a:t>LinearSVC vs BiLSTM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374151"/>
                          </a:solidFill>
                        </a:rPr>
                        <a:t>1350.44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374151"/>
                          </a:solidFill>
                        </a:rPr>
                        <a:t>0.0000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2A9D8F"/>
                          </a:solidFill>
                        </a:rPr>
                        <a:t>✓ Sig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b="0" sz="1200">
                          <a:solidFill>
                            <a:srgbClr val="374151"/>
                          </a:solidFill>
                        </a:rPr>
                        <a:t>BiLSTM vs Full Hybrid</a:t>
                      </a:r>
                    </a:p>
                  </a:txBody>
                  <a:tcPr marL="91440" marR="91440" marT="45720" marB="45720">
                    <a:solidFill>
                      <a:srgbClr val="F8F9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374151"/>
                          </a:solidFill>
                        </a:rPr>
                        <a:t>1878.97</a:t>
                      </a:r>
                    </a:p>
                  </a:txBody>
                  <a:tcPr marL="91440" marR="91440" marT="45720" marB="45720">
                    <a:solidFill>
                      <a:srgbClr val="F8F9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374151"/>
                          </a:solidFill>
                        </a:rPr>
                        <a:t>0.0000</a:t>
                      </a:r>
                    </a:p>
                  </a:txBody>
                  <a:tcPr marL="91440" marR="91440" marT="45720" marB="45720">
                    <a:solidFill>
                      <a:srgbClr val="F8F9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2A9D8F"/>
                          </a:solidFill>
                        </a:rPr>
                        <a:t>✓ Sig</a:t>
                      </a:r>
                    </a:p>
                  </a:txBody>
                  <a:tcPr marL="91440" marR="91440" marT="45720" marB="45720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b="0" sz="1200">
                          <a:solidFill>
                            <a:srgbClr val="374151"/>
                          </a:solidFill>
                        </a:rPr>
                        <a:t>LinearSVC vs No-Ling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374151"/>
                          </a:solidFill>
                        </a:rPr>
                        <a:t>1736.94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374151"/>
                          </a:solidFill>
                        </a:rPr>
                        <a:t>0.0000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0" sz="1200">
                          <a:solidFill>
                            <a:srgbClr val="2A9D8F"/>
                          </a:solidFill>
                        </a:rPr>
                        <a:t>✓ Sig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b="1" sz="1200">
                          <a:solidFill>
                            <a:srgbClr val="1D4ED8"/>
                          </a:solidFill>
                        </a:rPr>
                        <a:t>Full Hybrid vs No-Ling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200">
                          <a:solidFill>
                            <a:srgbClr val="1D4ED8"/>
                          </a:solidFill>
                        </a:rPr>
                        <a:t>3032.00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200">
                          <a:solidFill>
                            <a:srgbClr val="1D4ED8"/>
                          </a:solidFill>
                        </a:rPr>
                        <a:t>0.0000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200">
                          <a:solidFill>
                            <a:srgbClr val="2A9D8F"/>
                          </a:solidFill>
                        </a:rPr>
                        <a:t>✓ Sig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621792"/>
            <a:ext cx="859536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2651760" cy="3657600"/>
          </a:xfrm>
          <a:prstGeom prst="rect">
            <a:avLst/>
          </a:prstGeom>
          <a:solidFill>
            <a:srgbClr val="F0FDFA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linguistic 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uncleaned text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preserve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and uppercase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— the two 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failed due to 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the current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63240" y="822960"/>
            <a:ext cx="2651760" cy="3657600"/>
          </a:xfrm>
          <a:prstGeom prst="rect">
            <a:avLst/>
          </a:prstGeom>
          <a:solidFill>
            <a:srgbClr val="EEF2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96012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1005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150876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MaxPool with 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to improve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and capture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nuanced sequential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across article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822960"/>
            <a:ext cx="2743200" cy="3657600"/>
          </a:xfrm>
          <a:prstGeom prst="rect">
            <a:avLst/>
          </a:prstGeom>
          <a:solidFill>
            <a:srgbClr val="FFF1EE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96012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89320" y="15087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transformer-based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</a:t>
            </a:r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(BERT, RoBERTa)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branch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GloVe/BiLSTM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leverage contextual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representations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much larger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6908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best: </a:t>
            </a:r>
            <a:pPr algn="ctr" indent="0" marL="0">
              <a:buNone/>
            </a:pPr>
            <a:r>
              <a:rPr lang="en-US" sz="12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No-Linguistic Hybrid — 98.62% F1</a:t>
            </a:r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Beats Padalko et al. (2024) Att-BiLSTM 97.66%  ·  McNemar p &lt; 0.0001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2026-04-22T01:30:47Z</dcterms:created>
  <dcterms:modified xsi:type="dcterms:W3CDTF">2026-04-22T01:30:47Z</dcterms:modified>
</cp:coreProperties>
</file>